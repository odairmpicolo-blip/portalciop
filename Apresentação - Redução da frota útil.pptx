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spc="220">
                <a:solidFill>
                  <a:srgbClr val="C4B5A4"/>
                </a:solidFill>
                <a:latin typeface="Calibri"/>
              </a:rPr>
              <a:t>PLANEJAMENTO   ·   OUTUBRO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965960"/>
            <a:ext cx="91440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6F1E6"/>
                </a:solidFill>
                <a:latin typeface="Georgia"/>
              </a:rPr>
              <a:t>Redução
da frota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4160520"/>
            <a:ext cx="502920" cy="41148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7083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4D8C8"/>
                </a:solidFill>
                <a:latin typeface="Calibri"/>
              </a:rPr>
              <a:t>3.181,86 km estimados a menos, em um dia útil.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80644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6F1E6"/>
                </a:solidFill>
                <a:latin typeface="Georgia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36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A89886"/>
                </a:solidFill>
                <a:latin typeface="Calibri"/>
              </a:rPr>
              <a:t>LINHAS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580644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6F1E6"/>
                </a:solidFill>
                <a:latin typeface="Georgia"/>
              </a:rP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6236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A89886"/>
                </a:solidFill>
                <a:latin typeface="Calibri"/>
              </a:rPr>
              <a:t>TABELAS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580644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6F1E6"/>
                </a:solidFill>
                <a:latin typeface="Georgia"/>
              </a:rPr>
              <a:t>Dia útil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6236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A89886"/>
                </a:solidFill>
                <a:latin typeface="Calibri"/>
              </a:rPr>
              <a:t>CENÁRIO TCGL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6F685F"/>
                </a:solidFill>
                <a:latin typeface="Calibri"/>
              </a:rPr>
              <a:t>O CORTE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5669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171A1E"/>
                </a:solidFill>
                <a:latin typeface="Georgia"/>
              </a:rPr>
              <a:t>3.181,86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658368"/>
            <a:ext cx="20116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C4471A"/>
                </a:solidFill>
                <a:latin typeface="Georgia"/>
              </a:rPr>
              <a:t>km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F685F"/>
                </a:solidFill>
                <a:latin typeface="Calibri"/>
              </a:rPr>
              <a:t>estimados que saem da operação em um dia útil.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0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A1E"/>
                </a:solidFill>
                <a:latin typeface="Calibri"/>
              </a:rPr>
              <a:t>De 2.275 viagens hoje para 2.004 na proposta.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880360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1089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71A1E"/>
                </a:solidFill>
                <a:latin typeface="Georgia"/>
              </a:rPr>
              <a:t>271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Calibri"/>
              </a:rPr>
              <a:t>viagens saem por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F685F"/>
                </a:solidFill>
                <a:latin typeface="Calibri"/>
              </a:rPr>
              <a:t>2.640,05 km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3108960"/>
            <a:ext cx="9144" cy="1417320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31089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71A1E"/>
                </a:solidFill>
                <a:latin typeface="Georgia"/>
              </a:rPr>
              <a:t>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931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Calibri"/>
              </a:rPr>
              <a:t>seguem, mais curtas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F685F"/>
                </a:solidFill>
                <a:latin typeface="Calibri"/>
              </a:rPr>
              <a:t>541,81 km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3108960"/>
            <a:ext cx="9144" cy="1417320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31089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71A1E"/>
                </a:solidFill>
                <a:latin typeface="Georgia"/>
              </a:rPr>
              <a:t>115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3931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Calibri"/>
              </a:rPr>
              <a:t>tabelas permanecem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F685F"/>
                </a:solidFill>
                <a:latin typeface="Calibri"/>
              </a:rPr>
              <a:t>nenhuma foi extinta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074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F685F"/>
                </a:solidFill>
                <a:latin typeface="Calibri"/>
              </a:rPr>
              <a:t>83% desse quilômetro está na viagem que deixa de existir. 17% está no trecho que deixa de ir ao Terminal Central — a viagem continua.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Propostas 2026   ·   Dia útil   ·   Km estimado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6F685F"/>
                </a:solidFill>
                <a:latin typeface="Calibri"/>
              </a:rPr>
              <a:t>A LEITURA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71A1E"/>
                </a:solidFill>
                <a:latin typeface="Georgia"/>
              </a:rPr>
              <a:t>Três regras da conta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471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2316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A1E"/>
                </a:solidFill>
                <a:latin typeface="Georgia"/>
              </a:rPr>
              <a:t>Viagem inteira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089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C3934"/>
                </a:solidFill>
                <a:latin typeface="Calibri"/>
              </a:rPr>
              <a:t>A partida sai da proposta. Entra o quilômetro estimado da viagem completa no cenário TCGL.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471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242316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A1E"/>
                </a:solidFill>
                <a:latin typeface="Georgia"/>
              </a:rPr>
              <a:t>Pedaço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31089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C3934"/>
                </a:solidFill>
                <a:latin typeface="Calibri"/>
              </a:rPr>
              <a:t>O ônibus deixa o Terminal Central e segue no bairro. Sai a viagem inteira menos o pedaço que continua rodando.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471A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42316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A1E"/>
                </a:solidFill>
                <a:latin typeface="Georgia"/>
              </a:rPr>
              <a:t>Tabela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1089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C3934"/>
                </a:solidFill>
                <a:latin typeface="Calibri"/>
              </a:rPr>
              <a:t>As 115 tabelas seguem na grade. O corte é de viagem, ou de um trecho dentro da viagem. O carro não sai da operação.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Propostas 2026   ·   Dia útil   ·   Km estimado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6F685F"/>
                </a:solidFill>
                <a:latin typeface="Calibri"/>
              </a:rPr>
              <a:t>ONDE CONCENTRA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71A1E"/>
                </a:solidFill>
                <a:latin typeface="Georgia"/>
              </a:rPr>
              <a:t>O quilômetro por linha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685F"/>
                </a:solidFill>
                <a:latin typeface="Calibri"/>
              </a:rPr>
              <a:t>Cinco linhas respondem por 42% do km. Na 417/902, a maior parte é trecho, não viagem cancelada.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81160" y="1024128"/>
            <a:ext cx="201168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9601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85F"/>
                </a:solidFill>
                <a:latin typeface="Calibri"/>
              </a:rPr>
              <a:t>inteira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61320" y="1024128"/>
            <a:ext cx="201168" cy="73152"/>
          </a:xfrm>
          <a:prstGeom prst="rect">
            <a:avLst/>
          </a:prstGeom>
          <a:solidFill>
            <a:srgbClr val="1C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8208" y="9601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685F"/>
                </a:solidFill>
                <a:latin typeface="Calibri"/>
              </a:rPr>
              <a:t>pedaço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898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417-902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149961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0" y="1499616"/>
            <a:ext cx="1025681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1601" y="1499616"/>
            <a:ext cx="2220438" cy="73152"/>
          </a:xfrm>
          <a:prstGeom prst="rect">
            <a:avLst/>
          </a:prstGeom>
          <a:solidFill>
            <a:srgbClr val="1C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6903" y="138988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320,63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3898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38988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900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49961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1499616"/>
            <a:ext cx="3119466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44784" y="138988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308,12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18013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80136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1911095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0" y="1911095"/>
            <a:ext cx="2794277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6903" y="180136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276,00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18013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80136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407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911095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1911095"/>
            <a:ext cx="717299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61099" y="1911095"/>
            <a:ext cx="1596888" cy="73152"/>
          </a:xfrm>
          <a:prstGeom prst="rect">
            <a:avLst/>
          </a:prstGeom>
          <a:solidFill>
            <a:srgbClr val="1C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44784" y="180136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228,58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2212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2128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308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232257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0" y="2322576"/>
            <a:ext cx="512182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58102" y="2322576"/>
            <a:ext cx="1668062" cy="73152"/>
          </a:xfrm>
          <a:prstGeom prst="rect">
            <a:avLst/>
          </a:prstGeom>
          <a:solidFill>
            <a:srgbClr val="1C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46903" y="221284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215,35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2212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2128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913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232257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2322576"/>
            <a:ext cx="1894337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44784" y="221284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187,11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26243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262432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110-111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273405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45920" y="2734056"/>
            <a:ext cx="1738425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46903" y="262432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171,71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26243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262432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273405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43800" y="2734056"/>
            <a:ext cx="1549305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44784" y="262432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153,03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" y="30358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303580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806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0" y="314553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45920" y="3145536"/>
            <a:ext cx="1522476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46903" y="303580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150,38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30358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303580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3800" y="314553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43800" y="3145536"/>
            <a:ext cx="1468007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44784" y="303580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145,00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" y="34472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344728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800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0" y="355701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45920" y="3557016"/>
            <a:ext cx="1376991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46903" y="344728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136,01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36792" y="34472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29400" y="344728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311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43800" y="355701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43800" y="3557016"/>
            <a:ext cx="1286784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44784" y="344728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127,10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" y="38587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385876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802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45920" y="396849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645920" y="3968496"/>
            <a:ext cx="1173292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46903" y="385876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115,89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36792" y="38587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29400" y="385876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306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43800" y="396849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43800" y="3968496"/>
            <a:ext cx="1153651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44784" y="385876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113,95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8912" y="42702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42702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303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0" y="437997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45920" y="4379976"/>
            <a:ext cx="1011001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46903" y="427024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99,86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36792" y="42702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29400" y="42702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420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43800" y="437997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543800" y="4379976"/>
            <a:ext cx="871794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844784" y="427024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86,11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12" y="46817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468172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404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45920" y="479145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645920" y="4791456"/>
            <a:ext cx="779461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46903" y="468172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76,99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36792" y="46817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29400" y="468172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803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43800" y="479145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543800" y="4791456"/>
            <a:ext cx="708794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844784" y="468172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70,01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" y="50932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19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" y="509320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101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45920" y="520293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45920" y="5202936"/>
            <a:ext cx="581128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946903" y="509320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57,40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36792" y="50932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9400" y="509320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501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43800" y="520293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543800" y="5202936"/>
            <a:ext cx="558248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844784" y="509320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55,14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8912" y="5504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1520" y="550468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106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645920" y="561441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645920" y="5614416"/>
            <a:ext cx="523522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946903" y="550468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51,71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36792" y="5504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22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29400" y="550468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351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543800" y="561441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543800" y="5614416"/>
            <a:ext cx="267886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844784" y="550468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26,46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8912" y="59161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62"/>
                </a:solidFill>
                <a:latin typeface="Calibri"/>
              </a:rPr>
              <a:t>23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1520" y="591616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405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645920" y="6025896"/>
            <a:ext cx="324612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645920" y="6025896"/>
            <a:ext cx="94357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946903" y="591616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1E"/>
                </a:solidFill>
                <a:latin typeface="Calibri"/>
              </a:rPr>
              <a:t>9,32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Propostas 2026   ·   Dia útil   ·   Km estimado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240">
                <a:solidFill>
                  <a:srgbClr val="6F685F"/>
                </a:solidFill>
                <a:latin typeface="Calibri"/>
              </a:rPr>
              <a:t>O QUADRO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6576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71A1E"/>
                </a:solidFill>
                <a:latin typeface="Georgia"/>
              </a:rPr>
              <a:t>As 23 linhas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685F"/>
                </a:solidFill>
                <a:latin typeface="Calibri"/>
              </a:rPr>
              <a:t>Viagens de hoje e da proposta, o que sai inteiro, o que fica mais curto, e o km estimado.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1078992"/>
          <a:ext cx="1005840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737360"/>
                <a:gridCol w="1645920"/>
                <a:gridCol w="1645920"/>
                <a:gridCol w="1920240"/>
              </a:tblGrid>
              <a:tr h="219456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spc="80">
                          <a:solidFill>
                            <a:srgbClr val="6F685F"/>
                          </a:solidFill>
                          <a:latin typeface="Calibri"/>
                        </a:rPr>
                        <a:t>Linha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71A1E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spc="80">
                          <a:solidFill>
                            <a:srgbClr val="6F685F"/>
                          </a:solidFill>
                          <a:latin typeface="Calibri"/>
                        </a:rPr>
                        <a:t>Hoje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71A1E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spc="80">
                          <a:solidFill>
                            <a:srgbClr val="6F685F"/>
                          </a:solidFill>
                          <a:latin typeface="Calibri"/>
                        </a:rPr>
                        <a:t>Proposta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71A1E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spc="80">
                          <a:solidFill>
                            <a:srgbClr val="6F685F"/>
                          </a:solidFill>
                          <a:latin typeface="Calibri"/>
                        </a:rPr>
                        <a:t>Inteiras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71A1E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spc="80">
                          <a:solidFill>
                            <a:srgbClr val="6F685F"/>
                          </a:solidFill>
                          <a:latin typeface="Calibri"/>
                        </a:rPr>
                        <a:t>Pedaços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71A1E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spc="80">
                          <a:solidFill>
                            <a:srgbClr val="6F685F"/>
                          </a:solidFill>
                          <a:latin typeface="Calibri"/>
                        </a:rPr>
                        <a:t>Km que sai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71A1E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57,40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51,71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276,00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110-111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171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171,71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153,03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145,00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99,86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113,95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215,35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311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158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127,10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26,46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76,99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405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9,32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228,58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417-902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320,63</a:t>
                      </a:r>
                    </a:p>
                  </a:txBody>
                  <a:tcPr marL="73152" marR="73152" marT="18288" marB="9144" anchor="ctr">
                    <a:solidFill>
                      <a:srgbClr val="F8EBE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420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86,11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55,14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136,01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802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115,89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803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70,01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806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150,38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308,12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1A1E"/>
                          </a:solidFill>
                          <a:latin typeface="Calibri"/>
                        </a:rPr>
                        <a:t>913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71A1E"/>
                          </a:solidFill>
                          <a:latin typeface="Calibri"/>
                        </a:rPr>
                        <a:t>187,11</a:t>
                      </a:r>
                    </a:p>
                  </a:txBody>
                  <a:tcPr marL="73152" marR="73152" marT="18288" marB="9144" anchor="ctr">
                    <a:solidFill>
                      <a:srgbClr val="F3F0E8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DBD0"/>
                      </a:solidFill>
                    </a:lnB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6F1E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18288" marB="9144" anchor="ctr">
                    <a:solidFill>
                      <a:srgbClr val="171A1E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6F1E6"/>
                          </a:solidFill>
                          <a:latin typeface="Calibri"/>
                        </a:rPr>
                        <a:t>2.275</a:t>
                      </a:r>
                    </a:p>
                  </a:txBody>
                  <a:tcPr marL="73152" marR="73152" marT="18288" marB="9144" anchor="ctr">
                    <a:solidFill>
                      <a:srgbClr val="171A1E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6F1E6"/>
                          </a:solidFill>
                          <a:latin typeface="Calibri"/>
                        </a:rPr>
                        <a:t>2.004</a:t>
                      </a:r>
                    </a:p>
                  </a:txBody>
                  <a:tcPr marL="73152" marR="73152" marT="18288" marB="9144" anchor="ctr">
                    <a:solidFill>
                      <a:srgbClr val="171A1E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6F1E6"/>
                          </a:solidFill>
                          <a:latin typeface="Calibri"/>
                        </a:rPr>
                        <a:t>271</a:t>
                      </a:r>
                    </a:p>
                  </a:txBody>
                  <a:tcPr marL="73152" marR="73152" marT="18288" marB="9144" anchor="ctr">
                    <a:solidFill>
                      <a:srgbClr val="171A1E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6F1E6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73152" marR="73152" marT="18288" marB="9144" anchor="ctr">
                    <a:solidFill>
                      <a:srgbClr val="171A1E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6F1E6"/>
                          </a:solidFill>
                          <a:latin typeface="Calibri"/>
                        </a:rPr>
                        <a:t>3.181,86</a:t>
                      </a:r>
                    </a:p>
                  </a:txBody>
                  <a:tcPr marL="73152" marR="73152" marT="18288" marB="9144" anchor="ctr">
                    <a:solidFill>
                      <a:srgbClr val="171A1E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8912" y="6236208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Fora deste recorte: 423 e 703 a 706. Linhas em destaque têm viagem encurtada.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Propostas 2026   ·   Dia útil   ·   Km estimado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6F685F"/>
                </a:solidFill>
                <a:latin typeface="Calibri"/>
              </a:rPr>
              <a:t>O PEDAÇO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71A1E"/>
                </a:solidFill>
                <a:latin typeface="Georgia"/>
              </a:rPr>
              <a:t>Onde a viagem não some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F685F"/>
                </a:solidFill>
                <a:latin typeface="Calibri"/>
              </a:rPr>
              <a:t>O carro continua. Sai o trecho até o Terminal Central — ou, na 902, a diferença até o Catuaí.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470916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C4471A"/>
                </a:solidFill>
                <a:latin typeface="Calibri"/>
              </a:rPr>
              <a:t>LINHA 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71A1E"/>
                </a:solidFill>
                <a:latin typeface="Georgia"/>
              </a:rPr>
              <a:t>308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14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685F"/>
                </a:solidFill>
                <a:latin typeface="Calibri"/>
              </a:rPr>
              <a:t>Graciosa e Parecis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71A1E"/>
                </a:solidFill>
                <a:latin typeface="Georgia"/>
              </a:rPr>
              <a:t>215,35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2724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685F"/>
                </a:solidFill>
                <a:latin typeface="Calibri"/>
              </a:rPr>
              <a:t>km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703320"/>
            <a:ext cx="324612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A1E"/>
                </a:solidFill>
                <a:latin typeface="Calibri"/>
              </a:rPr>
              <a:t>6 viagens inteiras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840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1E"/>
                </a:solidFill>
                <a:latin typeface="Calibri"/>
              </a:rPr>
              <a:t>50,59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3308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A1E"/>
                </a:solidFill>
                <a:latin typeface="Calibri"/>
              </a:rPr>
              <a:t>35 pedaços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13308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1E"/>
                </a:solidFill>
                <a:latin typeface="Calibri"/>
              </a:rPr>
              <a:t>164,76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6344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C3934"/>
                </a:solidFill>
                <a:latin typeface="Calibri"/>
              </a:rPr>
              <a:t>O ônibus segue pela Graciosa ou pela Parecis e deixa de atender o Terminal Central.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1417320"/>
            <a:ext cx="3657600" cy="470916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417320"/>
            <a:ext cx="3657600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600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C4471A"/>
                </a:solidFill>
                <a:latin typeface="Calibri"/>
              </a:rPr>
              <a:t>LINHA 407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187451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71A1E"/>
                </a:solidFill>
                <a:latin typeface="Georgia"/>
              </a:rPr>
              <a:t>407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2514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685F"/>
                </a:solidFill>
                <a:latin typeface="Calibri"/>
              </a:rPr>
              <a:t>João Paz e Semiramis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71A1E"/>
                </a:solidFill>
                <a:latin typeface="Georgia"/>
              </a:rPr>
              <a:t>228,58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12724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685F"/>
                </a:solidFill>
                <a:latin typeface="Calibri"/>
              </a:rPr>
              <a:t>km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7136" y="3703320"/>
            <a:ext cx="324612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A1E"/>
                </a:solidFill>
                <a:latin typeface="Calibri"/>
              </a:rPr>
              <a:t>7 viagens inteiras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840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1E"/>
                </a:solidFill>
                <a:latin typeface="Calibri"/>
              </a:rPr>
              <a:t>70,85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13308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A1E"/>
                </a:solidFill>
                <a:latin typeface="Calibri"/>
              </a:rPr>
              <a:t>39 pedaços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13308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1E"/>
                </a:solidFill>
                <a:latin typeface="Calibri"/>
              </a:rPr>
              <a:t>157,73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66344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C3934"/>
                </a:solidFill>
                <a:latin typeface="Calibri"/>
              </a:rPr>
              <a:t>O ônibus segue por João Paz ou Semiramis e deixa de atender o Terminal Central.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1417320"/>
            <a:ext cx="3657600" cy="470916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1417320"/>
            <a:ext cx="3657600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1600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C4471A"/>
                </a:solidFill>
                <a:latin typeface="Calibri"/>
              </a:rPr>
              <a:t>LINHAS 417 E 902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187451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71A1E"/>
                </a:solidFill>
                <a:latin typeface="Georgia"/>
              </a:rPr>
              <a:t>417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2514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685F"/>
                </a:solidFill>
                <a:latin typeface="Calibri"/>
              </a:rPr>
              <a:t>Maritacas, das 9h às 16h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5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71A1E"/>
                </a:solidFill>
                <a:latin typeface="Georgia"/>
              </a:rPr>
              <a:t>320,63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43616" y="312724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685F"/>
                </a:solidFill>
                <a:latin typeface="Calibri"/>
              </a:rPr>
              <a:t>km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75904" y="3703320"/>
            <a:ext cx="324612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A1E"/>
                </a:solidFill>
                <a:latin typeface="Calibri"/>
              </a:rPr>
              <a:t>9 viagens inteiras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7855" y="3840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1E"/>
                </a:solidFill>
                <a:latin typeface="Calibri"/>
              </a:rPr>
              <a:t>101,31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13308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A1E"/>
                </a:solidFill>
                <a:latin typeface="Calibri"/>
              </a:rPr>
              <a:t>19 pedaços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77855" y="413308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1E"/>
                </a:solidFill>
                <a:latin typeface="Calibri"/>
              </a:rPr>
              <a:t>219,32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466344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C3934"/>
                </a:solidFill>
                <a:latin typeface="Calibri"/>
              </a:rPr>
              <a:t>Nesse horário a 902 passa a ser 417 até o Catuaí, com o mesmo km das viagens da noite.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Propostas 2026   ·   Dia útil   ·   Km estimado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6F685F"/>
                </a:solidFill>
                <a:latin typeface="Calibri"/>
              </a:rPr>
              <a:t>A MEDIDA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71A1E"/>
                </a:solidFill>
                <a:latin typeface="Georgia"/>
              </a:rPr>
              <a:t>O pedaço que continua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F685F"/>
                </a:solidFill>
                <a:latin typeface="Calibri"/>
              </a:rPr>
              <a:t>Este quilômetro permanece na operação. O que sai da frota é a viagem inteira menos este valor.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6F685F"/>
                </a:solidFill>
                <a:latin typeface="Calibri"/>
              </a:rPr>
              <a:t>TRECHO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916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6F685F"/>
                </a:solidFill>
                <a:latin typeface="Calibri"/>
              </a:rPr>
              <a:t>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6916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6F685F"/>
                </a:solidFill>
                <a:latin typeface="Calibri"/>
              </a:rPr>
              <a:t>VOLTA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671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1E"/>
                </a:solidFill>
                <a:latin typeface="Calibri"/>
              </a:rPr>
              <a:t>Via Graciosa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4144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80">
                <a:solidFill>
                  <a:srgbClr val="6E6862"/>
                </a:solidFill>
                <a:latin typeface="Calibri"/>
              </a:rPr>
              <a:t>308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313432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2313432"/>
            <a:ext cx="982594" cy="73152"/>
          </a:xfrm>
          <a:prstGeom prst="rect">
            <a:avLst/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6712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2,827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313432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2313432"/>
            <a:ext cx="1418800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1671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4,082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0720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169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1E"/>
                </a:solidFill>
                <a:latin typeface="Calibri"/>
              </a:rPr>
              <a:t>Via Parecis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19125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80">
                <a:solidFill>
                  <a:srgbClr val="6E6862"/>
                </a:solidFill>
                <a:latin typeface="Calibri"/>
              </a:rPr>
              <a:t>308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063239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3063239"/>
            <a:ext cx="1516469" cy="73152"/>
          </a:xfrm>
          <a:prstGeom prst="rect">
            <a:avLst/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1693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4,363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3063239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3063239"/>
            <a:ext cx="990935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91693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2,851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557015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6667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1E"/>
                </a:solidFill>
                <a:latin typeface="Calibri"/>
              </a:rPr>
              <a:t>Via João Paz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94106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80">
                <a:solidFill>
                  <a:srgbClr val="6E6862"/>
                </a:solidFill>
                <a:latin typeface="Calibri"/>
              </a:rPr>
              <a:t>407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3813048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0" y="3813048"/>
            <a:ext cx="2286000" cy="73152"/>
          </a:xfrm>
          <a:prstGeom prst="rect">
            <a:avLst/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66674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6,577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3813048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3813048"/>
            <a:ext cx="2033660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366674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5,851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306824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4165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1E"/>
                </a:solidFill>
                <a:latin typeface="Calibri"/>
              </a:rPr>
              <a:t>Via Semiramis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69087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80">
                <a:solidFill>
                  <a:srgbClr val="6E6862"/>
                </a:solidFill>
                <a:latin typeface="Calibri"/>
              </a:rPr>
              <a:t>407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4562856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0" y="4562856"/>
            <a:ext cx="2092748" cy="73152"/>
          </a:xfrm>
          <a:prstGeom prst="rect">
            <a:avLst/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41655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6,021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4562856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4562856"/>
            <a:ext cx="2134457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44165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6,141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5056631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166359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1E"/>
                </a:solidFill>
                <a:latin typeface="Calibri"/>
              </a:rPr>
              <a:t>417 até o Catuaí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54406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80">
                <a:solidFill>
                  <a:srgbClr val="6E6862"/>
                </a:solidFill>
                <a:latin typeface="Calibri"/>
              </a:rPr>
              <a:t>KM DA NOITE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5312664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40480" y="5312664"/>
            <a:ext cx="1557830" cy="73152"/>
          </a:xfrm>
          <a:prstGeom prst="rect">
            <a:avLst/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5166359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4,482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5312664"/>
            <a:ext cx="2286000" cy="73152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98079" y="5312664"/>
            <a:ext cx="2081625" cy="73152"/>
          </a:xfrm>
          <a:prstGeom prst="rect">
            <a:avLst/>
          </a:prstGeom>
          <a:solidFill>
            <a:srgbClr val="C44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516635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1E"/>
                </a:solidFill>
                <a:latin typeface="Georgia"/>
              </a:rPr>
              <a:t>5,989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685F"/>
                </a:solidFill>
                <a:latin typeface="Calibri"/>
              </a:rPr>
              <a:t>Graciosa, Parecis, João Paz e Semiramis medidos no mapa, ida e volta em separado. A 417 usa a viagem noturna até o Catuaí, do próprio cenário TCGL.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Propostas 2026   ·   Dia útil   ·   Km estimado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62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spc="200">
                <a:solidFill>
                  <a:srgbClr val="C4B5A4"/>
                </a:solidFill>
                <a:latin typeface="Georgia"/>
              </a:rPr>
              <a:t>PARA A DIRETORIA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97280"/>
            <a:ext cx="91440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6F1E6"/>
                </a:solidFill>
                <a:latin typeface="Georgia"/>
              </a:rPr>
              <a:t>3.181,86 km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E7A08A"/>
                </a:solidFill>
                <a:latin typeface="Georgia"/>
              </a:rPr>
              <a:t>por dia útil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971800"/>
            <a:ext cx="7772400" cy="9144"/>
          </a:xfrm>
          <a:prstGeom prst="rect">
            <a:avLst/>
          </a:prstGeom>
          <a:solidFill>
            <a:srgbClr val="2A3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0449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7DDD0"/>
                </a:solidFill>
                <a:latin typeface="Calibri"/>
              </a:rPr>
              <a:t>271 viagens deixam de sair.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538728"/>
            <a:ext cx="7772400" cy="9144"/>
          </a:xfrm>
          <a:prstGeom prst="rect">
            <a:avLst/>
          </a:prstGeom>
          <a:solidFill>
            <a:srgbClr val="2A3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6118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7DDD0"/>
                </a:solidFill>
                <a:latin typeface="Calibri"/>
              </a:rPr>
              <a:t>93 seguem sem o trecho até o Terminal Central.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105656"/>
            <a:ext cx="7772400" cy="9144"/>
          </a:xfrm>
          <a:prstGeom prst="rect">
            <a:avLst/>
          </a:prstGeom>
          <a:solidFill>
            <a:srgbClr val="2A3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17880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7DDD0"/>
                </a:solidFill>
                <a:latin typeface="Calibri"/>
              </a:rPr>
              <a:t>As 115 tabelas permanecem na grade.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672584"/>
            <a:ext cx="7772400" cy="9144"/>
          </a:xfrm>
          <a:prstGeom prst="rect">
            <a:avLst/>
          </a:prstGeom>
          <a:solidFill>
            <a:srgbClr val="2A3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126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176"/>
                </a:solidFill>
                <a:latin typeface="Calibri"/>
              </a:rPr>
              <a:t>Km estimado do cenário TCGL 06-09. Sem o número anotado na planilha.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Redução da frota — dia útil</dc:title>
  <dc:subject>Propostas 2026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